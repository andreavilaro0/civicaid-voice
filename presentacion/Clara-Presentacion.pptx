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Andrea Avila</a:t>
            </a:r>
          </a:p>
        </p:txBody>
      </p:sp>
      <p:sp>
        <p:nvSpPr>
          <p:cNvPr id="3" name="Oval 2"/>
          <p:cNvSpPr/>
          <p:nvPr/>
        </p:nvSpPr>
        <p:spPr>
          <a:xfrm>
            <a:off x="5669280" y="1645920"/>
            <a:ext cx="457200" cy="457200"/>
          </a:xfrm>
          <a:prstGeom prst="ellipse">
            <a:avLst/>
          </a:prstGeom>
          <a:solidFill>
            <a:srgbClr val="D4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AFAF9"/>
                </a:solidFill>
                <a:latin typeface="Georgia"/>
              </a:defRPr>
            </a:pPr>
            <a:r>
              <a:t>Clara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99999"/>
                </a:solidFill>
                <a:latin typeface="Calibri"/>
              </a:defRPr>
            </a:pPr>
            <a:r>
              <a:t>Asistente conversacional que ayuda a personas</a:t>
            </a:r>
            <a:br/>
            <a:r>
              <a:t>vulnerables a navegar ayudas del gobierno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846320"/>
            <a:ext cx="1645920" cy="411480"/>
          </a:xfrm>
          <a:prstGeom prst="roundRect">
            <a:avLst/>
          </a:prstGeom>
          <a:noFill/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WhatsApp-first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846320"/>
            <a:ext cx="1645920" cy="411480"/>
          </a:xfrm>
          <a:prstGeom prst="roundRect">
            <a:avLst/>
          </a:prstGeom>
          <a:noFill/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Voz + Texto + Foto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846320"/>
            <a:ext cx="1645920" cy="411480"/>
          </a:xfrm>
          <a:prstGeom prst="roundRect">
            <a:avLst/>
          </a:prstGeom>
          <a:noFill/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ES / 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OdiseIA4Good  ·  UDIT  ·  Febrero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0" i="0">
                <a:solidFill>
                  <a:srgbClr val="D46A1E"/>
                </a:solidFill>
                <a:latin typeface="Georgia"/>
              </a:defRPr>
            </a:pPr>
            <a:r>
              <a:t>11.4M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99999"/>
                </a:solidFill>
                <a:latin typeface="Calibri"/>
              </a:defRPr>
            </a:pPr>
            <a:r>
              <a:t>personas en riesgo de exclusion social en Espana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 i="0">
                <a:solidFill>
                  <a:srgbClr val="C62828"/>
                </a:solidFill>
                <a:latin typeface="Georgia"/>
              </a:defRPr>
            </a:pPr>
            <a:r>
              <a:t>73%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no completa tramites</a:t>
            </a:r>
            <a:br/>
            <a:r>
              <a:t>por barreras digitales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 i="0">
                <a:solidFill>
                  <a:srgbClr val="1B5E7B"/>
                </a:solidFill>
                <a:latin typeface="Georgia"/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no habla espanol</a:t>
            </a:r>
            <a:br/>
            <a:r>
              <a:t>como lengua materna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 i="0">
                <a:solidFill>
                  <a:srgbClr val="2E7D4F"/>
                </a:solidFill>
                <a:latin typeface="Georgia"/>
              </a:defRPr>
            </a:pPr>
            <a: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usa WhatsApp</a:t>
            </a:r>
            <a:br/>
            <a:r>
              <a:t>a diario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999999"/>
                </a:solidFill>
                <a:latin typeface="Calibri"/>
              </a:defRPr>
            </a:pPr>
            <a:r>
              <a:t>Las ayudas existen. Entre el papel y la persona hay un muro.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PARA QUIEN ES CLARA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01752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371600"/>
            <a:ext cx="548640" cy="548640"/>
          </a:xfrm>
          <a:prstGeom prst="ellipse">
            <a:avLst/>
          </a:prstGeom>
          <a:solidFill>
            <a:srgbClr val="D4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Maria, 74 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Le tiemblan las manos.</a:t>
            </a:r>
            <a:br/>
            <a:r>
              <a:t>No puede teclear.</a:t>
            </a:r>
            <a:br/>
            <a:r>
              <a:t>Quiere saber del IMV.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840480"/>
            <a:ext cx="146304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46A1E"/>
                </a:solidFill>
                <a:latin typeface="Calibri"/>
              </a:defRPr>
            </a:pPr>
            <a:r>
              <a:t>NOTA DE VOZ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01752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1371600"/>
            <a:ext cx="548640" cy="548640"/>
          </a:xfrm>
          <a:prstGeom prst="ellipse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Ahmed, 28 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Habla frances.</a:t>
            </a:r>
            <a:br/>
            <a:r>
              <a:t>Necesita empadronarse.</a:t>
            </a:r>
            <a:br/>
            <a:r>
              <a:t>Todo esta en espanol.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840480"/>
            <a:ext cx="146304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B5E7B"/>
                </a:solidFill>
                <a:latin typeface="Calibri"/>
              </a:defRPr>
            </a:pPr>
            <a:r>
              <a:t>BILINGUE ES/FR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097280"/>
            <a:ext cx="3017520" cy="3474720"/>
          </a:xfrm>
          <a:prstGeom prst="roundRect">
            <a:avLst/>
          </a:prstGeom>
          <a:solidFill>
            <a:srgbClr val="181818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0" y="1371600"/>
            <a:ext cx="548640" cy="54864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Fatima, 45 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Habla pero no lee.</a:t>
            </a:r>
            <a:br/>
            <a:r>
              <a:t>Necesita tarjeta sanitaria</a:t>
            </a:r>
            <a:br/>
            <a:r>
              <a:t>para su hijo.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840480"/>
            <a:ext cx="146304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E7D4F"/>
                </a:solidFill>
                <a:latin typeface="Calibri"/>
              </a:defRPr>
            </a:pPr>
            <a:r>
              <a:t>AUDIO RESPUESTA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D46A1E"/>
                </a:solidFill>
                <a:latin typeface="Calibri"/>
              </a:defRPr>
            </a:pPr>
            <a:r>
              <a:t>Clara no pide que las personas se adapten. Clara se adapta a las personas.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Tambien: mayores solos · inmigrantes sin idioma · mujeres en violencia de genero · personas sin hogar · discapacidad cognitiva · analfabetismo funcional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EJEMPLO: MARIA QUIERE SOLICITAR EL IMV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834640"/>
            <a:ext cx="9418320" cy="254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91640" y="2011680"/>
            <a:ext cx="640080" cy="640080"/>
          </a:xfrm>
          <a:prstGeom prst="ellipse">
            <a:avLst/>
          </a:prstGeom>
          <a:solidFill>
            <a:srgbClr val="151515"/>
          </a:solidFill>
          <a:ln w="2540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D46A1E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AFAF9"/>
                </a:solidFill>
                <a:latin typeface="Calibri"/>
              </a:defRPr>
            </a:pPr>
            <a:r>
              <a:t>Abre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Lo que ya tiene</a:t>
            </a:r>
            <a:br/>
            <a:r>
              <a:t>en el movil</a:t>
            </a:r>
          </a:p>
        </p:txBody>
      </p:sp>
      <p:sp>
        <p:nvSpPr>
          <p:cNvPr id="7" name="Oval 6"/>
          <p:cNvSpPr/>
          <p:nvPr/>
        </p:nvSpPr>
        <p:spPr>
          <a:xfrm>
            <a:off x="3703320" y="2011680"/>
            <a:ext cx="640080" cy="640080"/>
          </a:xfrm>
          <a:prstGeom prst="ellipse">
            <a:avLst/>
          </a:prstGeom>
          <a:solidFill>
            <a:srgbClr val="151515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E7D4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AFAF9"/>
                </a:solidFill>
                <a:latin typeface="Calibri"/>
              </a:defRPr>
            </a:pPr>
            <a:r>
              <a:t>Nota de voz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4747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"Quiero saber</a:t>
            </a:r>
            <a:br/>
            <a:r>
              <a:t>del IMV"</a:t>
            </a:r>
          </a:p>
        </p:txBody>
      </p:sp>
      <p:sp>
        <p:nvSpPr>
          <p:cNvPr id="10" name="Oval 9"/>
          <p:cNvSpPr/>
          <p:nvPr/>
        </p:nvSpPr>
        <p:spPr>
          <a:xfrm>
            <a:off x="5715000" y="2011680"/>
            <a:ext cx="640080" cy="640080"/>
          </a:xfrm>
          <a:prstGeom prst="ellipse">
            <a:avLst/>
          </a:prstGeom>
          <a:solidFill>
            <a:srgbClr val="151515"/>
          </a:solidFill>
          <a:ln w="2540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7B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AFAF9"/>
                </a:solidFill>
                <a:latin typeface="Calibri"/>
              </a:defRPr>
            </a:pPr>
            <a:r>
              <a:t>Whisper +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4747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Transcribe,</a:t>
            </a:r>
            <a:br/>
            <a:r>
              <a:t>entiende, busca</a:t>
            </a:r>
          </a:p>
        </p:txBody>
      </p:sp>
      <p:sp>
        <p:nvSpPr>
          <p:cNvPr id="13" name="Oval 12"/>
          <p:cNvSpPr/>
          <p:nvPr/>
        </p:nvSpPr>
        <p:spPr>
          <a:xfrm>
            <a:off x="7726680" y="2011680"/>
            <a:ext cx="640080" cy="640080"/>
          </a:xfrm>
          <a:prstGeom prst="ellipse">
            <a:avLst/>
          </a:prstGeom>
          <a:solidFill>
            <a:srgbClr val="151515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E7D4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AFAF9"/>
                </a:solidFill>
                <a:latin typeface="Calibri"/>
              </a:defRPr>
            </a:pPr>
            <a:r>
              <a:t>Respuesta + 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4747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Texto claro +</a:t>
            </a:r>
            <a:br/>
            <a:r>
              <a:t>nota de voz</a:t>
            </a:r>
          </a:p>
        </p:txBody>
      </p:sp>
      <p:sp>
        <p:nvSpPr>
          <p:cNvPr id="16" name="Oval 15"/>
          <p:cNvSpPr/>
          <p:nvPr/>
        </p:nvSpPr>
        <p:spPr>
          <a:xfrm>
            <a:off x="9738360" y="2011680"/>
            <a:ext cx="640080" cy="640080"/>
          </a:xfrm>
          <a:prstGeom prst="ellipse">
            <a:avLst/>
          </a:prstGeom>
          <a:solidFill>
            <a:srgbClr val="151515"/>
          </a:solidFill>
          <a:ln w="254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E7D4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017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AFAF9"/>
                </a:solidFill>
                <a:latin typeface="Calibri"/>
              </a:defRPr>
            </a:pPr>
            <a:r>
              <a:t>Sabe que hacer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4747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Paso concreto</a:t>
            </a:r>
            <a:br/>
            <a:r>
              <a:t>para manana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99999"/>
                </a:solidFill>
                <a:latin typeface="Calibri"/>
              </a:defRPr>
            </a:pPr>
            <a:r>
              <a:t>Todo en &lt; 30 segundos. Sin apps. Sin formularios. Sin esperas.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Otros usos: empadronamiento · tarjeta sanitaria · NIE/TIE · reagrupacion familiar · ayudas vivienda · becas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AFAF9"/>
                </a:solidFill>
                <a:latin typeface="Georgia"/>
              </a:defRPr>
            </a:pPr>
            <a:r>
              <a:t>Clara en</a:t>
            </a:r>
            <a:br/>
            <a:r>
              <a:t>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Texto, voz o foto de documento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Espanol y frances automatico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Audio para quienes no leen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Guardrails de 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Fuentes oficiales verificadas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57200"/>
            <a:ext cx="4114800" cy="5943600"/>
          </a:xfrm>
          <a:prstGeom prst="roundRect">
            <a:avLst/>
          </a:prstGeom>
          <a:solidFill>
            <a:srgbClr val="1C1C1E"/>
          </a:solidFill>
          <a:ln w="254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640080"/>
            <a:ext cx="3749039" cy="548640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6400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AFAF9"/>
                </a:solidFill>
                <a:latin typeface="Calibri"/>
              </a:defRPr>
            </a:pPr>
            <a:r>
              <a:t>  Clara                                    ES | FR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371600"/>
            <a:ext cx="2743200" cy="585216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1A1A1A"/>
                </a:solidFill>
                <a:latin typeface="Calibri"/>
              </a:defRPr>
            </a:pPr>
            <a:r>
              <a:t>Hola, soy Clara. Estoy aqui para</a:t>
            </a:r>
            <a:br/>
            <a:r>
              <a:t>ayudarte con tramites y ayudas.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66543"/>
            <a:ext cx="1920240" cy="384048"/>
          </a:xfrm>
          <a:prstGeom prst="round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AFAF9"/>
                </a:solidFill>
                <a:latin typeface="Calibri"/>
              </a:defRPr>
            </a:pPr>
            <a:r>
              <a:t>Quiero saber que es el IMV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560320"/>
            <a:ext cx="2743200" cy="11887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1A1A1A"/>
                </a:solidFill>
                <a:latin typeface="Calibri"/>
              </a:defRPr>
            </a:pPr>
            <a:r>
              <a:t>El IMV es una ayuda economica</a:t>
            </a:r>
            <a:br/>
            <a:r>
              <a:t>para personas con pocos recursos.</a:t>
            </a:r>
            <a:br/>
            <a:r>
              <a:t>Puede ser 604-1.200€/mes.</a:t>
            </a:r>
            <a:br/>
            <a:br/>
            <a:r>
              <a:t>▶ Escuchar respuesta  0:34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858768"/>
            <a:ext cx="1920240" cy="384048"/>
          </a:xfrm>
          <a:prstGeom prst="round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AFAF9"/>
                </a:solidFill>
                <a:latin typeface="Calibri"/>
              </a:defRPr>
            </a:pPr>
            <a:r>
              <a:t>🎙 Nota de voz 0:05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352544"/>
            <a:ext cx="2743200" cy="98755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1A1A1A"/>
                </a:solidFill>
                <a:latin typeface="Calibri"/>
              </a:defRPr>
            </a:pPr>
            <a:r>
              <a:t>Para solicitarlo necesitas:</a:t>
            </a:r>
            <a:br/>
            <a:r>
              <a:t>1. DNI/NIE</a:t>
            </a:r>
            <a:br/>
            <a:r>
              <a:t>2. Empadronamiento</a:t>
            </a:r>
            <a:br/>
            <a:r>
              <a:t>3. Declaracion renta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→ Abrir demo-whatsapp.html para demo interactiva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INTERFAZ ACCESIBLE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097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AFAF9"/>
                </a:solidFill>
                <a:latin typeface="Georgia"/>
              </a:defRPr>
            </a:pPr>
            <a:r>
              <a:t>Clara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999999"/>
                </a:solidFill>
                <a:latin typeface="Calibri"/>
              </a:defRPr>
            </a:pPr>
            <a:r>
              <a:t>Para trabajadoras sociales, ONGs</a:t>
            </a:r>
            <a:br/>
            <a:r>
              <a:t>y mediadores comunitarios.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WCAG AA accesible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Grabacion de voz integrada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Mobile-first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✓  Selector de idioma ES / FR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7200"/>
            <a:ext cx="4114800" cy="5943600"/>
          </a:xfrm>
          <a:prstGeom prst="roundRect">
            <a:avLst/>
          </a:prstGeom>
          <a:solidFill>
            <a:srgbClr val="1C1C1E"/>
          </a:solidFill>
          <a:ln w="254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640080"/>
            <a:ext cx="3749039" cy="548640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6400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AFAF9"/>
                </a:solidFill>
                <a:latin typeface="Calibri"/>
              </a:defRPr>
            </a:pPr>
            <a:r>
              <a:t>  Clara Web                              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1371600"/>
            <a:ext cx="2926080" cy="585216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Bienvenido/a. Soy Clara,</a:t>
            </a:r>
            <a:br/>
            <a:r>
              <a:t>tu asistente para tramites.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066543"/>
            <a:ext cx="1920240" cy="384048"/>
          </a:xfrm>
          <a:prstGeom prst="round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AFAF9"/>
                </a:solidFill>
              </a:defRPr>
            </a:pPr>
            <a:r>
              <a:t>Como pido la tarjeta sanitaria?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560320"/>
            <a:ext cx="2926080" cy="1591056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1A1A1A"/>
                </a:solidFill>
              </a:defRPr>
            </a:pPr>
            <a:r>
              <a:t>Para la tarjeta sanitaria:</a:t>
            </a:r>
            <a:br/>
            <a:br/>
            <a:r>
              <a:t>✅ Empadronamiento</a:t>
            </a:r>
            <a:br/>
            <a:r>
              <a:t>✅ Pasaporte o NIE</a:t>
            </a:r>
            <a:br/>
            <a:r>
              <a:t>✅ Centro de salud</a:t>
            </a:r>
            <a:br/>
            <a:br/>
            <a:r>
              <a:t>▶ Escuchar  0:28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→ Abrir demo-webapp.html para demo interactiva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FAFAF9"/>
                </a:solidFill>
                <a:latin typeface="Georgia"/>
              </a:defRPr>
            </a:pPr>
            <a:r>
              <a:t>Arquitectura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645920" cy="128016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9"/>
                </a:solidFill>
              </a:defRPr>
            </a:pPr>
            <a:r>
              <a:t>WhatsApp</a:t>
            </a:r>
            <a:br/>
            <a:r>
              <a:t>+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Texto / Voz / Foto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2514600"/>
            <a:ext cx="457200" cy="27432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2011680"/>
            <a:ext cx="1645920" cy="128016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9"/>
                </a:solidFill>
              </a:defRPr>
            </a:pPr>
            <a:r>
              <a:t>Twilio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Mensajeria</a:t>
            </a:r>
            <a:br/>
            <a:r>
              <a:t>segura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4880" y="2514600"/>
            <a:ext cx="457200" cy="27432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2011680"/>
            <a:ext cx="1645920" cy="128016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9"/>
                </a:solidFill>
              </a:defRPr>
            </a:pPr>
            <a:r>
              <a:t>Whisper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Voz → Texto</a:t>
            </a:r>
            <a:br/>
            <a:r>
              <a:t>OpenAI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40880" y="2514600"/>
            <a:ext cx="457200" cy="27432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2011680"/>
            <a:ext cx="1645920" cy="128016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9"/>
                </a:solidFill>
              </a:defRPr>
            </a:pPr>
            <a:r>
              <a:t>Gemini</a:t>
            </a:r>
            <a:br/>
            <a:r>
              <a:t>1.5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IA generativa</a:t>
            </a:r>
            <a:br/>
            <a:r>
              <a:t>RAG + KB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26880" y="2514600"/>
            <a:ext cx="457200" cy="274320"/>
          </a:xfrm>
          <a:prstGeom prst="rightArrow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0" y="2011680"/>
            <a:ext cx="1645920" cy="128016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AF9"/>
                </a:solidFill>
              </a:defRPr>
            </a:pPr>
            <a:r>
              <a:t>Respuesta</a:t>
            </a:r>
            <a:br/>
            <a:r>
              <a:t>verificada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3474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Texto + Audio</a:t>
            </a:r>
            <a:br/>
            <a:r>
              <a:t>+ Fuentes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572000"/>
            <a:ext cx="1828800" cy="347472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Python + Flask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572000"/>
            <a:ext cx="1828800" cy="347472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1828800" cy="347472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Render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4572000"/>
            <a:ext cx="1828800" cy="347472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PostgreSQL + pgvector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5029200"/>
            <a:ext cx="1828800" cy="347472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React + TypeScript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5029200"/>
            <a:ext cx="1828800" cy="347472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469 tests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029200"/>
            <a:ext cx="1828800" cy="347472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11 skills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5029200"/>
            <a:ext cx="1828800" cy="347472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8 KBs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IMPACTO Y ESCALABILIDAD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182880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2E7D4F"/>
                </a:solidFill>
                <a:latin typeface="Georgia"/>
              </a:defRPr>
            </a:pPr>
            <a:r>
              <a:t>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usuarios WhatsApp</a:t>
            </a:r>
            <a:br/>
            <a:r>
              <a:t>en el mundo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97280"/>
            <a:ext cx="2560320" cy="182880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280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1B5E7B"/>
                </a:solidFill>
                <a:latin typeface="Georgia"/>
              </a:defRPr>
            </a:pPr>
            <a:r>
              <a:t>0€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coste para</a:t>
            </a:r>
            <a:br/>
            <a:r>
              <a:t>el usuario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97280"/>
            <a:ext cx="2560320" cy="182880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D46A1E"/>
                </a:solidFill>
                <a:latin typeface="Georgia"/>
              </a:defRPr>
            </a:pPr>
            <a:r>
              <a:t>&lt;30s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respuesta</a:t>
            </a:r>
            <a:br/>
            <a:r>
              <a:t>con fuentes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097280"/>
            <a:ext cx="2560320" cy="182880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2801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 i="0">
                <a:solidFill>
                  <a:srgbClr val="C62828"/>
                </a:solidFill>
                <a:latin typeface="Georgia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1031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disponible</a:t>
            </a:r>
            <a:br/>
            <a:r>
              <a:t>siempre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2E7D4F"/>
                </a:solidFill>
                <a:latin typeface="Calibri"/>
              </a:defRPr>
            </a:pPr>
            <a:r>
              <a:t>Hoy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31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IMV, empadronamiento,</a:t>
            </a:r>
            <a:br/>
            <a:r>
              <a:t>sanitaria, NIE/TIE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B5E7B"/>
                </a:solidFill>
                <a:latin typeface="Calibri"/>
              </a:defRPr>
            </a:pPr>
            <a:r>
              <a:t>Manana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31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Todas las CCAA</a:t>
            </a:r>
            <a:br/>
            <a:r>
              <a:t>de Espana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D46A1E"/>
                </a:solidFill>
                <a:latin typeface="Calibri"/>
              </a:defRPr>
            </a:pPr>
            <a:r>
              <a:t>Futuro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31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LATAM, refugiados,</a:t>
            </a:r>
            <a:br/>
            <a:r>
              <a:t>cualquier idioma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D46A1E"/>
                </a:solidFill>
                <a:latin typeface="Calibri"/>
              </a:defRPr>
            </a:pPr>
            <a:r>
              <a:t>Clara no compite con chatbots. Clara crea una nueva categoria: Civic Tenderness.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999999"/>
                </a:solidFill>
                <a:latin typeface="Calibri"/>
              </a:defRPr>
            </a:pPr>
            <a:r>
              <a:t>Clara no reemplaza a los trabajadores sociales. Los amplifica.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USOS PARA DIFERENTES PERSONAS VULNERABLES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228600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Mayores solos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IMV, pensiones,</a:t>
            </a:r>
            <a:br/>
            <a:r>
              <a:t>teleasistencia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834640"/>
            <a:ext cx="109728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6A1E"/>
                </a:solidFill>
                <a:latin typeface="Calibri"/>
              </a:defRPr>
            </a:pPr>
            <a:r>
              <a:t>Voz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3291840" cy="228600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Inmigrantes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Empadronamiento,</a:t>
            </a:r>
            <a:br/>
            <a:r>
              <a:t>NIE, reagrupacion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834640"/>
            <a:ext cx="109728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7B"/>
                </a:solidFill>
                <a:latin typeface="Calibri"/>
              </a:defRPr>
            </a:pPr>
            <a:r>
              <a:t>Bilingue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097280"/>
            <a:ext cx="3291840" cy="228600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Violencia</a:t>
            </a:r>
            <a:br/>
            <a:r>
              <a:t>de genero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116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016, ordenes</a:t>
            </a:r>
            <a:br/>
            <a:r>
              <a:t>proteccion, ayudas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834640"/>
            <a:ext cx="109728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62828"/>
                </a:solidFill>
                <a:latin typeface="Calibri"/>
              </a:defRPr>
            </a:pPr>
            <a:r>
              <a:t>Seguro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291840" cy="228600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Sin hogar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Comedores, albergues,</a:t>
            </a:r>
            <a:br/>
            <a:r>
              <a:t>renta social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577840"/>
            <a:ext cx="109728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7D4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80"/>
            <a:ext cx="3291840" cy="228600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Discapacidad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Certificado, grado,</a:t>
            </a:r>
            <a:br/>
            <a:r>
              <a:t>ayudas tecnicas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5577840"/>
            <a:ext cx="109728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B5E7B"/>
                </a:solidFill>
                <a:latin typeface="Calibri"/>
              </a:defRPr>
            </a:pPr>
            <a:r>
              <a:t>Audio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840480"/>
            <a:ext cx="3291840" cy="2286000"/>
          </a:xfrm>
          <a:prstGeom prst="roundRect">
            <a:avLst/>
          </a:prstGeom>
          <a:solidFill>
            <a:srgbClr val="151515"/>
          </a:solidFill>
          <a:ln w="1905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AFAF9"/>
                </a:solidFill>
                <a:latin typeface="Calibri"/>
              </a:defRPr>
            </a:pPr>
            <a:r>
              <a:t>Analfabetismo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99999"/>
                </a:solidFill>
                <a:latin typeface="Calibri"/>
              </a:defRPr>
            </a:pPr>
            <a:r>
              <a:t>Cualquier tramite,</a:t>
            </a:r>
            <a:br/>
            <a:r>
              <a:t>paso a paso oral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577840"/>
            <a:ext cx="1097280" cy="320040"/>
          </a:xfrm>
          <a:prstGeom prst="roundRect">
            <a:avLst/>
          </a:prstGeom>
          <a:solidFill>
            <a:srgbClr val="202020"/>
          </a:solidFill>
          <a:ln w="1905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6A1E"/>
                </a:solidFill>
                <a:latin typeface="Calibri"/>
              </a:defRPr>
            </a:pPr>
            <a:r>
              <a:t>Voz 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1371600"/>
            <a:ext cx="640080" cy="640080"/>
          </a:xfrm>
          <a:prstGeom prst="ellipse">
            <a:avLst/>
          </a:prstGeom>
          <a:solidFill>
            <a:srgbClr val="202020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B5E7B"/>
                </a:solidFill>
              </a:defRPr>
            </a:pPr>
            <a:r>
              <a:t>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0604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Robert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06060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1371600"/>
            <a:ext cx="640080" cy="640080"/>
          </a:xfrm>
          <a:prstGeom prst="ellipse">
            <a:avLst/>
          </a:prstGeom>
          <a:solidFill>
            <a:srgbClr val="202020"/>
          </a:solidFill>
          <a:ln w="1905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E7D4F"/>
                </a:solidFill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4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Marcos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4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06060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1371600"/>
            <a:ext cx="640080" cy="640080"/>
          </a:xfrm>
          <a:prstGeom prst="ellipse">
            <a:avLst/>
          </a:prstGeom>
          <a:solidFill>
            <a:srgbClr val="202020"/>
          </a:solidFill>
          <a:ln w="1905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D46A1E"/>
                </a:solidFill>
              </a:defRPr>
            </a:pPr>
            <a:r>
              <a:t>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Lucas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06060"/>
                </a:solidFill>
                <a:latin typeface="Calibri"/>
              </a:defRPr>
            </a:pPr>
            <a:r>
              <a:t>KB + Tests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1371600"/>
            <a:ext cx="640080" cy="640080"/>
          </a:xfrm>
          <a:prstGeom prst="ellipse">
            <a:avLst/>
          </a:prstGeom>
          <a:solidFill>
            <a:srgbClr val="202020"/>
          </a:solidFill>
          <a:ln w="19050">
            <a:solidFill>
              <a:srgbClr val="1B5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B5E7B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Daniel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06060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1371600"/>
            <a:ext cx="640080" cy="640080"/>
          </a:xfrm>
          <a:prstGeom prst="ellipse">
            <a:avLst/>
          </a:prstGeom>
          <a:solidFill>
            <a:srgbClr val="202020"/>
          </a:solidFill>
          <a:ln w="19050">
            <a:solidFill>
              <a:srgbClr val="D46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D46A1E"/>
                </a:solidFill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Andrea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77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606060"/>
                </a:solidFill>
                <a:latin typeface="Calibri"/>
              </a:defRPr>
            </a:pPr>
            <a:r>
              <a:t>Coord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32004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1">
                <a:solidFill>
                  <a:srgbClr val="FAFAF9"/>
                </a:solidFill>
                <a:latin typeface="Georgia"/>
              </a:defRPr>
            </a:pPr>
            <a:r>
              <a:t>Tu voz tiene poder.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B5E7B"/>
                </a:solidFill>
                <a:latin typeface="Georgia"/>
              </a:defRPr>
            </a:pPr>
            <a:r>
              <a:t>Clara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OdiseIA4Good  ·  UDIT  ·  Febrero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